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B2-4967-9939-1213B1F85B8A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B2-4967-9939-1213B1F85B8A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B2-4967-9939-1213B1F85B8A}"/>
              </c:ext>
            </c:extLst>
          </c:dPt>
          <c:dPt>
            <c:idx val="3"/>
            <c:invertIfNegative val="0"/>
            <c:bubble3D val="0"/>
            <c:spPr>
              <a:solidFill>
                <a:srgbClr val="A932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4B2-4967-9939-1213B1F85B8A}"/>
              </c:ext>
            </c:extLst>
          </c:dPt>
          <c:dPt>
            <c:idx val="4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4B2-4967-9939-1213B1F85B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EAEAE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Naive Bayes</c:v>
                </c:pt>
                <c:pt idx="2">
                  <c:v>Random Forest</c:v>
                </c:pt>
                <c:pt idx="3">
                  <c:v>Logistic Regression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97.1</c:v>
                </c:pt>
                <c:pt idx="1">
                  <c:v>97.9</c:v>
                </c:pt>
                <c:pt idx="2">
                  <c:v>97.6</c:v>
                </c:pt>
                <c:pt idx="3">
                  <c:v>95.9</c:v>
                </c:pt>
                <c:pt idx="4">
                  <c:v>98.7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4B2-4967-9939-1213B1F85B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3"/>
        </c:scaling>
        <c:delete val="0"/>
        <c:axPos val="l"/>
        <c:majorGridlines>
          <c:spPr>
            <a:ln w="6350" cap="flat">
              <a:solidFill>
                <a:srgbClr val="2C2F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68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313EC-B272-2D7A-D8C0-FB5E6139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1AD2F-20BE-61DB-ABF8-F470D3967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B5D20-9D78-C4B5-F7AD-39023F3FB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CFF15-CD1F-1D7C-8281-608171AD0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58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822960"/>
            <a:ext cx="2011680" cy="2011680"/>
          </a:xfrm>
          <a:prstGeom prst="ellipse">
            <a:avLst/>
          </a:prstGeom>
          <a:solidFill>
            <a:srgbClr val="C0392B">
              <a:alpha val="20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LANGUAGE PROCESSING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4173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6576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5 ML Classifiers with TF-IDF Feature Extraction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D27"/>
          </a:solidFill>
          <a:ln w="12700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Tree  ·  Naive Bayes  ·  Random Forest  ·  Logistic Regression  ·  SVM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886200" cy="155448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932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 SMS messages as spam or legitimate (ham) using Natural Language Processing and multiple machine learning algorithms.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868680"/>
            <a:ext cx="4389120" cy="155448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987552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9326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0" y="1463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spam.csv — labelled SMS dataset with two 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(ham / spam) and Message text.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as label 0 (ham) and 1 (spam).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651760"/>
            <a:ext cx="2011680" cy="1417320"/>
          </a:xfrm>
          <a:prstGeom prst="rect">
            <a:avLst/>
          </a:prstGeom>
          <a:solidFill>
            <a:srgbClr val="1A1D2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2004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2004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468880" y="2651760"/>
            <a:ext cx="2011680" cy="1417320"/>
          </a:xfrm>
          <a:prstGeom prst="rect">
            <a:avLst/>
          </a:prstGeom>
          <a:solidFill>
            <a:srgbClr val="1A1D2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46888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246888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17720" y="2651760"/>
            <a:ext cx="2011680" cy="1417320"/>
          </a:xfrm>
          <a:prstGeom prst="rect">
            <a:avLst/>
          </a:prstGeom>
          <a:solidFill>
            <a:srgbClr val="1A1D2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61772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461772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766560" y="2651760"/>
            <a:ext cx="2011680" cy="1417320"/>
          </a:xfrm>
          <a:prstGeom prst="rect">
            <a:avLst/>
          </a:prstGeom>
          <a:solidFill>
            <a:srgbClr val="1A1D2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6656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400" dirty="0"/>
          </a:p>
        </p:txBody>
      </p:sp>
      <p:sp>
        <p:nvSpPr>
          <p:cNvPr id="23" name="Text 19"/>
          <p:cNvSpPr/>
          <p:nvPr/>
        </p:nvSpPr>
        <p:spPr>
          <a:xfrm>
            <a:off x="676656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PRE-PROCESSING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1572768" cy="397764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804672"/>
            <a:ext cx="157276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8046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31673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242316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URLs, hashtags, mentions and non-alphabetic characters using Regex patterns. Convert to lowercase.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83664" y="2697480"/>
            <a:ext cx="10972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11680" y="804672"/>
            <a:ext cx="1572768" cy="397764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804672"/>
            <a:ext cx="157276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11680" y="8046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31673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75688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03120" y="242316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 tokens using NLTK's word_tokenize function.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02736" y="2697480"/>
            <a:ext cx="10972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30752" y="804672"/>
            <a:ext cx="1572768" cy="397764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730752" y="804672"/>
            <a:ext cx="157276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730752" y="8046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316736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94760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822192" y="242316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common low-value words ("the", "a", "in") using nltk.corpus.stopwords.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321808" y="2697480"/>
            <a:ext cx="10972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49824" y="804672"/>
            <a:ext cx="1572768" cy="397764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49824" y="804672"/>
            <a:ext cx="157276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449824" y="8046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1316736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13832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541264" y="242316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root forms using WordNetLemmatizer (e.g. "connecting" → "connect").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040880" y="2697480"/>
            <a:ext cx="10972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168896" y="804672"/>
            <a:ext cx="1572768" cy="397764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168896" y="804672"/>
            <a:ext cx="157276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168896" y="8046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316736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32904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260336" y="2423160"/>
            <a:ext cx="1389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cleaned tokens to numeric feature vectors using TfidfVectorizer with 3,000 features.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CLASSIFIERS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822960"/>
            <a:ext cx="7772400" cy="621792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859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1338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on feature thresholds. Interpretable, tree-structured decisions. Simple and fast.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1627632"/>
            <a:ext cx="7772400" cy="621792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38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 assuming feature independence. Excellent baseline for text classification.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4323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2432304"/>
            <a:ext cx="7772400" cy="621792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trees. Reduces overfitting via bagging and random feature selection.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23697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7772400" cy="621792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8720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547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boundary classifier. Outputs probabilities; max_iter=300 for TF-IDF convergence.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041648"/>
            <a:ext cx="6400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04164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51560" y="4041648"/>
            <a:ext cx="7772400" cy="621792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88720" y="4078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3525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hyperplane maximising the margin between spam and ham classes.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RESULTS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777240"/>
          <a:ext cx="8503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1A5C38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0799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445312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Performer: SVM — 98.7% accuracy on the test set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508760" cy="1234440"/>
          </a:xfrm>
          <a:prstGeom prst="rect">
            <a:avLst/>
          </a:prstGeom>
          <a:solidFill>
            <a:srgbClr val="1A1D27"/>
          </a:solidFill>
          <a:ln w="15240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1481328"/>
            <a:ext cx="173736" cy="54864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84832" y="914400"/>
            <a:ext cx="1508760" cy="1234440"/>
          </a:xfrm>
          <a:prstGeom prst="rect">
            <a:avLst/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84832" y="9144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1481328"/>
            <a:ext cx="173736" cy="54864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03904" y="914400"/>
            <a:ext cx="1508760" cy="1234440"/>
          </a:xfrm>
          <a:prstGeom prst="rect">
            <a:avLst/>
          </a:prstGeom>
          <a:solidFill>
            <a:srgbClr val="1A1D27"/>
          </a:solidFill>
          <a:ln w="15240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03904" y="9144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30952" y="1481328"/>
            <a:ext cx="173736" cy="54864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22976" y="914400"/>
            <a:ext cx="1508760" cy="1234440"/>
          </a:xfrm>
          <a:prstGeom prst="rect">
            <a:avLst/>
          </a:prstGeom>
          <a:solidFill>
            <a:srgbClr val="C0392B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22976" y="9144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50024" y="1481328"/>
            <a:ext cx="173736" cy="54864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42048" y="914400"/>
            <a:ext cx="1508760" cy="1234440"/>
          </a:xfrm>
          <a:prstGeom prst="rect">
            <a:avLst/>
          </a:prstGeom>
          <a:solidFill>
            <a:srgbClr val="1A1D27"/>
          </a:solidFill>
          <a:ln w="1524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42048" y="91440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Result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8503920" cy="2468880"/>
          </a:xfrm>
          <a:prstGeom prst="rect">
            <a:avLst/>
          </a:prstGeom>
          <a:solidFill>
            <a:srgbClr val="1A1D27"/>
          </a:solidFill>
          <a:ln w="9525">
            <a:solidFill>
              <a:srgbClr val="2C2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— Tkinter Desktop Application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9260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desktop app built with Python Tkinter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area on the left + Process button on the right — same row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individual result rows — each classifier on its own 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9684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badges: green = HAM, red = SPAM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percentage displayed per classifier after prediction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344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NLP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→ Tokenization → Stop Words Removal → Lemmatization → TF-IDF Vectorization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221992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240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Tested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Naive Bayes, Random Forest, Logistic Regression, SVM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118104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3136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429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achieved the best result at ~98.7%; all models surpassed 95%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014216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40325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4325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Tkinter app with color-coded results and per-classifier accuracy display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B83D4-92C4-70F5-058C-BF4CE296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494B9F-0AA3-B948-6C23-CDD38B4D4096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82F5ED-7332-E671-B08D-116F421D9222}"/>
              </a:ext>
            </a:extLst>
          </p:cNvPr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10E996-0E66-3F9B-3CFB-7DACBE827AB7}"/>
              </a:ext>
            </a:extLst>
          </p:cNvPr>
          <p:cNvSpPr/>
          <p:nvPr/>
        </p:nvSpPr>
        <p:spPr>
          <a:xfrm>
            <a:off x="320040" y="1325880"/>
            <a:ext cx="64008" cy="168321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2EB8E4-D2E1-8CBB-78A1-45348C41FFC8}"/>
              </a:ext>
            </a:extLst>
          </p:cNvPr>
          <p:cNvSpPr/>
          <p:nvPr/>
        </p:nvSpPr>
        <p:spPr>
          <a:xfrm>
            <a:off x="530352" y="137231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Emad Mahmoud (2300061)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946A54-A532-DF46-F673-FFE2D78238D7}"/>
              </a:ext>
            </a:extLst>
          </p:cNvPr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003C0B2-9CBF-A8FC-6F8C-548F3E8078D9}"/>
              </a:ext>
            </a:extLst>
          </p:cNvPr>
          <p:cNvSpPr/>
          <p:nvPr/>
        </p:nvSpPr>
        <p:spPr>
          <a:xfrm>
            <a:off x="530352" y="164663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Gamila Refaat Fawzy (2300506)</a:t>
            </a:r>
            <a:endParaRPr lang="en-US" sz="13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BD4BA61-17EA-DCE7-DF38-747376D3B675}"/>
              </a:ext>
            </a:extLst>
          </p:cNvPr>
          <p:cNvSpPr/>
          <p:nvPr/>
        </p:nvSpPr>
        <p:spPr>
          <a:xfrm>
            <a:off x="530352" y="1965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Khalid Ahmed (2300542) </a:t>
            </a:r>
            <a:endParaRPr lang="en-US" sz="13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9B1098E-6D97-E583-F5EE-B04C47BF5823}"/>
              </a:ext>
            </a:extLst>
          </p:cNvPr>
          <p:cNvSpPr/>
          <p:nvPr/>
        </p:nvSpPr>
        <p:spPr>
          <a:xfrm>
            <a:off x="530352" y="228515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Dalia Mohamed Adel (2300517) </a:t>
            </a:r>
            <a:endParaRPr lang="en-US" sz="13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309AE3C-7E16-E034-FCAF-4E053D12E0F4}"/>
              </a:ext>
            </a:extLst>
          </p:cNvPr>
          <p:cNvSpPr/>
          <p:nvPr/>
        </p:nvSpPr>
        <p:spPr>
          <a:xfrm>
            <a:off x="530352" y="2605279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Refaat Ayad (2300510)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87789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476</Words>
  <Application>Microsoft Office PowerPoint</Application>
  <PresentationFormat>On-screen Show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Detection System</dc:title>
  <dc:subject>PptxGenJS Presentation</dc:subject>
  <dc:creator>PptxGenJS</dc:creator>
  <cp:lastModifiedBy>Boody Emad</cp:lastModifiedBy>
  <cp:revision>4</cp:revision>
  <dcterms:created xsi:type="dcterms:W3CDTF">2026-05-01T17:17:11Z</dcterms:created>
  <dcterms:modified xsi:type="dcterms:W3CDTF">2026-05-01T17:33:41Z</dcterms:modified>
</cp:coreProperties>
</file>